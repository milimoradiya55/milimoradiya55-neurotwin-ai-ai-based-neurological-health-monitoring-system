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64" r:id="rId3"/>
    <p:sldId id="258" r:id="rId4"/>
    <p:sldId id="259" r:id="rId5"/>
    <p:sldId id="263" r:id="rId6"/>
    <p:sldId id="269" r:id="rId7"/>
    <p:sldId id="260" r:id="rId8"/>
    <p:sldId id="270" r:id="rId9"/>
    <p:sldId id="265" r:id="rId10"/>
    <p:sldId id="274" r:id="rId11"/>
    <p:sldId id="266" r:id="rId12"/>
    <p:sldId id="278" r:id="rId13"/>
    <p:sldId id="273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>
        <p:scale>
          <a:sx n="66" d="100"/>
          <a:sy n="66" d="100"/>
        </p:scale>
        <p:origin x="1166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E4EC84-5CAA-44EC-8D8E-3D2E40BD7ADD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D3DDE2-96B6-4220-B4AD-FA15A266E8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700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670E-8DEE-4882-9D20-FAD97BB98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096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25733-92D3-451A-8E95-361EBF73B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EDCAC-FC0C-4F6F-9E31-B651874E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3B60-3F0F-4964-A130-D1828BB06522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1C851-C261-439B-B0B5-5FAC5E8D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B48A2-801A-4CCD-86EC-DE7DCEDED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59EABA-3FC6-47F8-8376-7FC0658E85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" y="4222"/>
            <a:ext cx="1691811" cy="1073092"/>
          </a:xfrm>
          <a:prstGeom prst="rect">
            <a:avLst/>
          </a:prstGeom>
        </p:spPr>
      </p:pic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3316260B-B2D4-4964-8111-95B4CFAC58B3}"/>
              </a:ext>
            </a:extLst>
          </p:cNvPr>
          <p:cNvSpPr/>
          <p:nvPr userDrawn="1"/>
        </p:nvSpPr>
        <p:spPr>
          <a:xfrm>
            <a:off x="27132" y="1066732"/>
            <a:ext cx="978408" cy="484632"/>
          </a:xfrm>
          <a:prstGeom prst="homePlat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ACD322-7513-4BE4-A8B4-4D6FD0A2B2A8}"/>
              </a:ext>
            </a:extLst>
          </p:cNvPr>
          <p:cNvCxnSpPr>
            <a:cxnSpLocks/>
          </p:cNvCxnSpPr>
          <p:nvPr userDrawn="1"/>
        </p:nvCxnSpPr>
        <p:spPr>
          <a:xfrm>
            <a:off x="978408" y="1296960"/>
            <a:ext cx="11186460" cy="1631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EB7DC8D-FD60-478D-ACDF-17D9729DD1C9}"/>
              </a:ext>
            </a:extLst>
          </p:cNvPr>
          <p:cNvSpPr/>
          <p:nvPr userDrawn="1"/>
        </p:nvSpPr>
        <p:spPr>
          <a:xfrm>
            <a:off x="11023134" y="0"/>
            <a:ext cx="1141734" cy="123308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90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6BEEF-F5E0-4E10-B7B4-D243D7923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0218D-8358-4C37-9C78-5DEBD8A87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10152-F429-420C-A26B-1FAE004C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B1235-ABAA-4FF9-B98D-7C88D6556A1E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8D718-FBF8-4831-84E6-A97FA182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07D49-3A45-485F-BE7C-4C964FDE0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7B4008A-2AA8-4165-893D-21B10940F4F5}"/>
              </a:ext>
            </a:extLst>
          </p:cNvPr>
          <p:cNvSpPr/>
          <p:nvPr userDrawn="1"/>
        </p:nvSpPr>
        <p:spPr>
          <a:xfrm>
            <a:off x="27132" y="1070962"/>
            <a:ext cx="978408" cy="484632"/>
          </a:xfrm>
          <a:prstGeom prst="homePlat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596121-14BD-4D65-8626-82E653C66459}"/>
              </a:ext>
            </a:extLst>
          </p:cNvPr>
          <p:cNvCxnSpPr>
            <a:cxnSpLocks/>
          </p:cNvCxnSpPr>
          <p:nvPr userDrawn="1"/>
        </p:nvCxnSpPr>
        <p:spPr>
          <a:xfrm>
            <a:off x="978408" y="1296960"/>
            <a:ext cx="11186460" cy="1631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FBBC391-66CF-4ED8-8E27-CF35442DE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4370" y="0"/>
            <a:ext cx="1456501" cy="1456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193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58AD-8D4E-4991-A6C6-3D6E07D89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FCFDA-2BC3-4994-B2D0-53535BCCF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E9D64-106F-4D45-945F-77CC5375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8FFB-135E-401A-B6C8-E2AAE625E10D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44E8A-4171-48A2-8CCB-72251F7A8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7E704-BFD7-4A67-83F6-11C58974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443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07FAC-231A-4443-AE23-4070E1FAA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7254-51F2-468E-BDD2-01CC8B59D0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ADAF5-9EC6-448A-ADC7-8076E3E68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F6B9C-D24C-46EE-AB6A-98AE1D5A8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9C248-FACC-4F38-AC27-6FEAF03E55EE}" type="datetime1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6AFD2-51E1-4946-92F5-3D4C7D1F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5BC31-9C25-4EE7-B8FF-17DAE5A9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95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4BF4-EE85-4B6C-9847-E78BF88F7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ECF76-3510-404F-8AAF-E31AAF488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1584C-30BD-46C7-938E-D2E3D9980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165EA0-10C6-4B87-838A-80EB462370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B601A6-6280-475C-98ED-5DE2DE46F4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587AA-B87B-4326-A64B-56EADA2EB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A427E-42D0-48C2-8BF0-7631367B4B66}" type="datetime1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0E882C-2B25-42D5-A750-431F795BC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662E0A-1BF5-4FBE-B0EC-4BB68D2B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497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8A71-C7BD-465F-8130-36EB0C9D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55F490-7EC5-4BAE-8A91-BCE08FFB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0693-B0A9-4916-8BDE-8EC709CE168E}" type="datetime1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383FB-5F49-4205-9632-A586ACCC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5995E-77A5-47C7-888D-B14760A74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34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EB53C9-741E-46EF-910A-318E432A2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4EAC-0855-4C11-992B-8D21D0E370D6}" type="datetime1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D595E-861B-433B-91A4-E030F60A1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697EE-D753-454E-8ABD-BD6944267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654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0A40-D1F7-434E-84FA-F81999E48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DCD7F-3238-4EC8-926D-26DAC82EC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1B5C1-D1E1-4BC3-94A5-795321FCD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56744-B09C-40E3-8E4C-88B90D907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A427-44E7-4FA7-B5AF-BAE9C7DE9E7B}" type="datetime1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94580-43A7-4F23-B4D4-9833286D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44D42-C0BB-4CC5-B40B-CC5041F4A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318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A657-A851-46CD-8F35-9CF5453D7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D624BE-41C5-464D-95D6-A2B783B992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C00D7-6A35-4032-8EBB-47606D7AF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44A9A-360E-48FD-820D-12B5A975B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6ABC1-0448-4868-B006-4ED682C6276D}" type="datetime1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F8E6C-4570-4873-AD0E-F5D64C17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613C5-C536-4344-A5FD-EFCD7E8A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659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A88A3-05CC-49D8-9347-17CA3D9FC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D9456-047E-4E11-BB9E-4972B820E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94AC6-B396-4EEF-8408-F90349B62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4FB02-4DF4-45A4-801E-3251DF36C1AD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7FC4C-8534-4734-BE99-DB2E512E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008A2-D146-4934-9506-DDB1BAEFA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8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5C463D-ED1A-44FA-9F35-3B78E640E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C8A02-FF69-4A21-93E5-689D23F36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C8340-BE8C-456E-883F-0D05EB274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CF88-F917-4CD6-B844-63A2C560DEAC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55507-928A-43AC-A96A-0FF2F8DEA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2FD37-9DD2-499C-9017-F1CFC1787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849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670E-8DEE-4882-9D20-FAD97BB98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7096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25733-92D3-451A-8E95-361EBF73B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EDCAC-FC0C-4F6F-9E31-B651874EE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73B60-3F0F-4964-A130-D1828BB06522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1C851-C261-439B-B0B5-5FAC5E8D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B48A2-801A-4CCD-86EC-DE7DCEDED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3316260B-B2D4-4964-8111-95B4CFAC58B3}"/>
              </a:ext>
            </a:extLst>
          </p:cNvPr>
          <p:cNvSpPr/>
          <p:nvPr userDrawn="1"/>
        </p:nvSpPr>
        <p:spPr>
          <a:xfrm>
            <a:off x="27132" y="1066732"/>
            <a:ext cx="978408" cy="484632"/>
          </a:xfrm>
          <a:prstGeom prst="homePlat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ACD322-7513-4BE4-A8B4-4D6FD0A2B2A8}"/>
              </a:ext>
            </a:extLst>
          </p:cNvPr>
          <p:cNvCxnSpPr>
            <a:cxnSpLocks/>
          </p:cNvCxnSpPr>
          <p:nvPr userDrawn="1"/>
        </p:nvCxnSpPr>
        <p:spPr>
          <a:xfrm>
            <a:off x="978408" y="1296960"/>
            <a:ext cx="11186460" cy="1631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1EB7DC8D-FD60-478D-ACDF-17D9729DD1C9}"/>
              </a:ext>
            </a:extLst>
          </p:cNvPr>
          <p:cNvSpPr/>
          <p:nvPr userDrawn="1"/>
        </p:nvSpPr>
        <p:spPr>
          <a:xfrm>
            <a:off x="11023134" y="0"/>
            <a:ext cx="1141734" cy="123308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pic>
        <p:nvPicPr>
          <p:cNvPr id="1028" name="Picture 4" descr="https://lh7-rt.googleusercontent.com/docsz/AD_4nXfM16tyrBvvXKuvu0YyaEbD5UhvkuagmW8wm2LmVTNN9fDGgWds1PR7GUn68D7_AVXxmqYteiNh7Fa4A4dfxvc-5RwOQ-dbrSpgleNIaJIYlEEB1D3SkFNxRHEGjwUlMPoam_HVASpHzHpeFrNtFys?key=-Q_9pHlqnUmImE8YLMVCx5_-"/>
          <p:cNvPicPr>
            <a:picLocks noChangeAspect="1" noChangeArrowheads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0" y="-5898"/>
            <a:ext cx="1104176" cy="1082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5177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6BEEF-F5E0-4E10-B7B4-D243D7923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0218D-8358-4C37-9C78-5DEBD8A87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10152-F429-420C-A26B-1FAE004C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B1235-ABAA-4FF9-B98D-7C88D6556A1E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8D718-FBF8-4831-84E6-A97FA1827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07D49-3A45-485F-BE7C-4C964FDE0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C7B4008A-2AA8-4165-893D-21B10940F4F5}"/>
              </a:ext>
            </a:extLst>
          </p:cNvPr>
          <p:cNvSpPr/>
          <p:nvPr userDrawn="1"/>
        </p:nvSpPr>
        <p:spPr>
          <a:xfrm>
            <a:off x="27132" y="1070962"/>
            <a:ext cx="978408" cy="484632"/>
          </a:xfrm>
          <a:prstGeom prst="homePlat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596121-14BD-4D65-8626-82E653C66459}"/>
              </a:ext>
            </a:extLst>
          </p:cNvPr>
          <p:cNvCxnSpPr>
            <a:cxnSpLocks/>
          </p:cNvCxnSpPr>
          <p:nvPr userDrawn="1"/>
        </p:nvCxnSpPr>
        <p:spPr>
          <a:xfrm>
            <a:off x="978408" y="1296960"/>
            <a:ext cx="11186460" cy="1631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FBBC391-66CF-4ED8-8E27-CF35442DE7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4370" y="0"/>
            <a:ext cx="1242955" cy="124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305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758AD-8D4E-4991-A6C6-3D6E07D89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FCFDA-2BC3-4994-B2D0-53535BCCF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E9D64-106F-4D45-945F-77CC5375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68FFB-135E-401A-B6C8-E2AAE625E10D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44E8A-4171-48A2-8CCB-72251F7A8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7E704-BFD7-4A67-83F6-11C58974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9485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07FAC-231A-4443-AE23-4070E1FAA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F7254-51F2-468E-BDD2-01CC8B59D0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ADAF5-9EC6-448A-ADC7-8076E3E68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F6B9C-D24C-46EE-AB6A-98AE1D5A8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9C248-FACC-4F38-AC27-6FEAF03E55EE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6AFD2-51E1-4946-92F5-3D4C7D1F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5BC31-9C25-4EE7-B8FF-17DAE5A9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577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4BF4-EE85-4B6C-9847-E78BF88F7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ECF76-3510-404F-8AAF-E31AAF488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1584C-30BD-46C7-938E-D2E3D9980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165EA0-10C6-4B87-838A-80EB462370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B601A6-6280-475C-98ED-5DE2DE46F4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587AA-B87B-4326-A64B-56EADA2EB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A427E-42D0-48C2-8BF0-7631367B4B66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0E882C-2B25-42D5-A750-431F795BC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662E0A-1BF5-4FBE-B0EC-4BB68D2B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470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8A71-C7BD-465F-8130-36EB0C9D6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55F490-7EC5-4BAE-8A91-BCE08FFB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A0693-B0A9-4916-8BDE-8EC709CE168E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383FB-5F49-4205-9632-A586ACCC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5995E-77A5-47C7-888D-B14760A74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1987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EB53C9-741E-46EF-910A-318E432A2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4EAC-0855-4C11-992B-8D21D0E370D6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D595E-861B-433B-91A4-E030F60A1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697EE-D753-454E-8ABD-BD6944267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38559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0A40-D1F7-434E-84FA-F81999E48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DCD7F-3238-4EC8-926D-26DAC82EC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1B5C1-D1E1-4BC3-94A5-795321FCD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56744-B09C-40E3-8E4C-88B90D907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A427-44E7-4FA7-B5AF-BAE9C7DE9E7B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94580-43A7-4F23-B4D4-9833286D9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44D42-C0BB-4CC5-B40B-CC5041F4A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42384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AA657-A851-46CD-8F35-9CF5453D7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D624BE-41C5-464D-95D6-A2B783B992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CC00D7-6A35-4032-8EBB-47606D7AF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44A9A-360E-48FD-820D-12B5A975B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6ABC1-0448-4868-B006-4ED682C6276D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F8E6C-4570-4873-AD0E-F5D64C17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613C5-C536-4344-A5FD-EFCD7E8A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5140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A88A3-05CC-49D8-9347-17CA3D9FC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D9456-047E-4E11-BB9E-4972B820E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94AC6-B396-4EEF-8408-F90349B62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4FB02-4DF4-45A4-801E-3251DF36C1AD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7FC4C-8534-4734-BE99-DB2E512E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008A2-D146-4934-9506-DDB1BAEFA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79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5C463D-ED1A-44FA-9F35-3B78E640E0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C8A02-FF69-4A21-93E5-689D23F36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C8340-BE8C-456E-883F-0D05EB274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ACF88-F917-4CD6-B844-63A2C560DEAC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55507-928A-43AC-A96A-0FF2F8DEA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2FD37-9DD2-499C-9017-F1CFC1787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029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8AF4F6-51AE-4579-96E7-17E3F0CF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B5DF5-2BB8-4636-96CA-C63424AD3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9CE0C-38B1-4111-B91C-C0E390D91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72839-5639-4A54-854B-56F5852EF4EC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E5A73-7CA8-4888-8DCD-9BBDE3BAE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90504-C29F-4E3B-A409-4ACEAC0C8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0E33B-3B1D-41CF-87B6-71715FF43E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275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8AF4F6-51AE-4579-96E7-17E3F0CF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B5DF5-2BB8-4636-96CA-C63424AD3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9CE0C-38B1-4111-B91C-C0E390D91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72839-5639-4A54-854B-56F5852EF4EC}" type="datetime1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28-09-2026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E5A73-7CA8-4888-8DCD-9BBDE3BAE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90504-C29F-4E3B-A409-4ACEAC0C8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0E33B-3B1D-41CF-87B6-71715FF43E8C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055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scikit-learn.org/stable/?utm_source=chatgpt.com" TargetMode="External"/><Relationship Id="rId3" Type="http://schemas.openxmlformats.org/officeDocument/2006/relationships/hyperlink" Target="https://ieeexplore.ieee.org/document/4636708" TargetMode="External"/><Relationship Id="rId7" Type="http://schemas.openxmlformats.org/officeDocument/2006/relationships/hyperlink" Target="https://librosa.org/doc/latest/?utm_source=chatgpt.com" TargetMode="External"/><Relationship Id="rId2" Type="http://schemas.openxmlformats.org/officeDocument/2006/relationships/hyperlink" Target="https://ieeexplore.ieee.org/document/10648838/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openai/whisper?utm_source=chatgpt.com" TargetMode="External"/><Relationship Id="rId11" Type="http://schemas.openxmlformats.org/officeDocument/2006/relationships/hyperlink" Target="https://react.dev/?utm_source=chatgpt.com" TargetMode="External"/><Relationship Id="rId5" Type="http://schemas.openxmlformats.org/officeDocument/2006/relationships/hyperlink" Target="https://ai.google.dev/edge/mediapipe/solutions/guide?utm_source=chatgpt.com" TargetMode="External"/><Relationship Id="rId10" Type="http://schemas.openxmlformats.org/officeDocument/2006/relationships/hyperlink" Target="https://fastapi.tiangolo.com/?utm_source=chatgpt.com" TargetMode="External"/><Relationship Id="rId4" Type="http://schemas.openxmlformats.org/officeDocument/2006/relationships/hyperlink" Target="https://ieeexplore.ieee.org/document/8444654?utm_source=chatgpt.com" TargetMode="External"/><Relationship Id="rId9" Type="http://schemas.openxmlformats.org/officeDocument/2006/relationships/hyperlink" Target="https://shap.readthedocs.io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6044-0D80-4C29-8B79-D4D50EDBF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1782" y="928869"/>
            <a:ext cx="9276698" cy="2500131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400" b="0" i="0" u="none" strike="noStrike" baseline="0" dirty="0" err="1">
                <a:latin typeface="Times New Roman" pitchFamily="18" charset="0"/>
                <a:cs typeface="Times New Roman" pitchFamily="18" charset="0"/>
              </a:rPr>
              <a:t>Sarvajanik</a:t>
            </a:r>
            <a:r>
              <a:rPr lang="en-US" sz="3400" b="0" i="0" u="none" strike="noStrike" baseline="0" dirty="0">
                <a:latin typeface="Times New Roman" pitchFamily="18" charset="0"/>
                <a:cs typeface="Times New Roman" pitchFamily="18" charset="0"/>
              </a:rPr>
              <a:t> College of Engineering and Technology</a:t>
            </a:r>
            <a:br>
              <a:rPr lang="en-US" sz="2800" b="0" i="0" u="none" strike="noStrike" baseline="0" dirty="0">
                <a:latin typeface="Times New Roman" pitchFamily="18" charset="0"/>
                <a:cs typeface="Times New Roman" pitchFamily="18" charset="0"/>
              </a:rPr>
            </a:br>
            <a:r>
              <a:rPr lang="en-US" sz="2400" b="1" i="0" u="none" strike="noStrike" baseline="0" dirty="0">
                <a:latin typeface="Times New Roman" pitchFamily="18" charset="0"/>
                <a:cs typeface="Times New Roman" pitchFamily="18" charset="0"/>
              </a:rPr>
              <a:t>Department Name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IN" sz="2400" b="0" i="0" u="none" strike="noStrike" baseline="0" dirty="0">
                <a:latin typeface="Times New Roman" pitchFamily="18" charset="0"/>
                <a:cs typeface="Times New Roman" pitchFamily="18" charset="0"/>
              </a:rPr>
              <a:t> Artificial Intelligence &amp; Data Science </a:t>
            </a:r>
            <a:br>
              <a:rPr lang="en-IN" sz="2400" b="0" i="0" u="none" strike="noStrike" baseline="0" dirty="0">
                <a:latin typeface="Times New Roman" pitchFamily="18" charset="0"/>
                <a:cs typeface="Times New Roman" pitchFamily="18" charset="0"/>
              </a:rPr>
            </a:br>
            <a:r>
              <a:rPr lang="en-IN" sz="2400" b="1" i="0" u="none" strike="noStrike" baseline="0" dirty="0">
                <a:latin typeface="Times New Roman" pitchFamily="18" charset="0"/>
                <a:cs typeface="Times New Roman" pitchFamily="18" charset="0"/>
              </a:rPr>
              <a:t>Project-1</a:t>
            </a:r>
            <a:r>
              <a:rPr lang="en-IN" sz="2400" i="0" u="none" strike="noStrike" baseline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400" b="0" i="0" u="none" strike="noStrike" baseline="0" dirty="0">
                <a:latin typeface="Times New Roman" pitchFamily="18" charset="0"/>
                <a:cs typeface="Times New Roman" pitchFamily="18" charset="0"/>
              </a:rPr>
              <a:t>BTAI16701)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BD2A9-A66F-4532-A141-6E0352BE73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646" y="4965420"/>
            <a:ext cx="4841169" cy="189258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1" dirty="0"/>
              <a:t>Presented By: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 err="1"/>
              <a:t>Ashvini</a:t>
            </a:r>
            <a:r>
              <a:rPr lang="en-US" dirty="0"/>
              <a:t> </a:t>
            </a:r>
            <a:r>
              <a:rPr lang="en-US" dirty="0" err="1"/>
              <a:t>Dahivelkar</a:t>
            </a:r>
            <a:r>
              <a:rPr lang="en-US" dirty="0"/>
              <a:t> [ET24BTAI801]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 err="1"/>
              <a:t>Dharmika</a:t>
            </a:r>
            <a:r>
              <a:rPr lang="en-US" dirty="0"/>
              <a:t> </a:t>
            </a:r>
            <a:r>
              <a:rPr lang="en-US" dirty="0" err="1"/>
              <a:t>Gajera</a:t>
            </a:r>
            <a:r>
              <a:rPr lang="en-US" dirty="0"/>
              <a:t> [ET24BTAI802]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 err="1"/>
              <a:t>Dhruvi</a:t>
            </a:r>
            <a:r>
              <a:rPr lang="en-US" dirty="0"/>
              <a:t> </a:t>
            </a:r>
            <a:r>
              <a:rPr lang="en-US" dirty="0" err="1"/>
              <a:t>Kuvadiya</a:t>
            </a:r>
            <a:r>
              <a:rPr lang="en-US" dirty="0"/>
              <a:t> [ET24BTAI803]</a:t>
            </a:r>
            <a:endParaRPr lang="en-IN" dirty="0"/>
          </a:p>
          <a:p>
            <a:pPr marL="457200" indent="-457200" algn="l">
              <a:buFont typeface="+mj-lt"/>
              <a:buAutoNum type="arabicPeriod"/>
            </a:pPr>
            <a:r>
              <a:rPr lang="en-US" dirty="0" err="1"/>
              <a:t>Mili</a:t>
            </a:r>
            <a:r>
              <a:rPr lang="en-US" dirty="0"/>
              <a:t> </a:t>
            </a:r>
            <a:r>
              <a:rPr lang="en-US" dirty="0" err="1"/>
              <a:t>Moradiya</a:t>
            </a:r>
            <a:r>
              <a:rPr lang="en-US" dirty="0"/>
              <a:t> [ET24BTAI806]</a:t>
            </a:r>
            <a:endParaRPr lang="en-IN" dirty="0"/>
          </a:p>
          <a:p>
            <a:pPr marL="457200" indent="-457200" algn="l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FF9E14F-1944-048A-EC53-E1029216B588}"/>
              </a:ext>
            </a:extLst>
          </p:cNvPr>
          <p:cNvSpPr txBox="1">
            <a:spLocks/>
          </p:cNvSpPr>
          <p:nvPr/>
        </p:nvSpPr>
        <p:spPr>
          <a:xfrm>
            <a:off x="6967959" y="5911710"/>
            <a:ext cx="5331164" cy="1194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Supervised By: </a:t>
            </a:r>
            <a:r>
              <a:rPr lang="en-US" dirty="0"/>
              <a:t>Dr. Mitali H. Desai [Assistant Professor of IT Department]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796C5CF-290D-2A1E-BCD8-BAF252B68E36}"/>
              </a:ext>
            </a:extLst>
          </p:cNvPr>
          <p:cNvSpPr txBox="1">
            <a:spLocks/>
          </p:cNvSpPr>
          <p:nvPr/>
        </p:nvSpPr>
        <p:spPr>
          <a:xfrm>
            <a:off x="1738131" y="3510023"/>
            <a:ext cx="9144000" cy="963473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IN" sz="1800" dirty="0">
                <a:solidFill>
                  <a:prstClr val="black"/>
                </a:solidFill>
                <a:latin typeface="Times New Roman" pitchFamily="18" charset="0"/>
              </a:rPr>
            </a:br>
            <a:r>
              <a:rPr lang="en-IN" sz="3800" b="1" dirty="0" err="1">
                <a:solidFill>
                  <a:prstClr val="black"/>
                </a:solidFill>
                <a:latin typeface="Times New Roman" pitchFamily="18" charset="0"/>
              </a:rPr>
              <a:t>NeuroTwin</a:t>
            </a:r>
            <a:r>
              <a:rPr lang="en-IN" sz="3800" b="1" dirty="0">
                <a:solidFill>
                  <a:prstClr val="black"/>
                </a:solidFill>
                <a:latin typeface="Times New Roman" pitchFamily="18" charset="0"/>
              </a:rPr>
              <a:t> AI : </a:t>
            </a:r>
            <a:r>
              <a:rPr lang="en-IN" sz="3800" b="1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AI Based Neurological Health Monitoring System</a:t>
            </a:r>
            <a:endParaRPr lang="en-IN" sz="3200" b="1" dirty="0">
              <a:solidFill>
                <a:prstClr val="black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2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8ADAA-BE37-4228-AB68-FC828CBA0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7A149-3A4D-4F94-A963-BB317DC58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242" y="1657350"/>
            <a:ext cx="11365405" cy="5200650"/>
          </a:xfrm>
        </p:spPr>
        <p:txBody>
          <a:bodyPr>
            <a:noAutofit/>
          </a:bodyPr>
          <a:lstStyle/>
          <a:p>
            <a:pPr algn="just"/>
            <a:r>
              <a:rPr lang="en-US" sz="2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NeuroTwin</a:t>
            </a: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AI is a personalized AI-based platform for longitudinal monitoring of neurological health. It creates an individual Digital Brain Twin by analyzing multiple behavioral and cognitive indicators.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Multimodal Assessment: Analyzes voice, hand movement, facial behavior, typing, memory 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Personalized Baseline: Establishes a baseline from the user's own historical performance rather than relying only on population averages.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Explainable AI: Uses SHAP-based feature attribution to show which factors contribute to the detected changes.</a:t>
            </a:r>
          </a:p>
          <a:p>
            <a:pPr marL="0" indent="0" algn="just">
              <a:buNone/>
            </a:pPr>
            <a:r>
              <a:rPr lang="en-IN" sz="2000" b="1" u="sng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Objectives : 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Detect early neurological changes via continuous monitoring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Enable simple, low-cost, longitudinal self-monitoring of subtle neurological changes through one unified patient dashboard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Compare each user against their own baseline (not population averages)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Provide explainable insights using SHAP-based feature attribution</a:t>
            </a:r>
          </a:p>
          <a:p>
            <a:pPr algn="just"/>
            <a:endParaRPr lang="en-IN" sz="20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695BB-DF0B-60FA-E951-74A2290A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23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A2779-030C-46C2-A01D-1CB381B1E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itchFamily="18" charset="0"/>
              </a:rPr>
              <a:t>Problem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445A5-2C9F-A551-86BF-B999397A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3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1354751"/>
            <a:ext cx="10515600" cy="518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174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A2779-030C-46C2-A01D-1CB381B1E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itchFamily="18" charset="0"/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C4423-5B4A-49E5-91C9-9A7E20AF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9082" y="1622025"/>
            <a:ext cx="10515601" cy="4952396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subtle changes in voice, facial behavior, movement, and cognitive performance to support timely medical consultation.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Monitoring: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a person with their own historical baseline, rather than relying only on population-level thresholds.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Assessment: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voice, facial, movement, typing, and cognitive signals instead of depending on a single biomarker.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Analysis: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performance over time to detect meaningful deviations and emerging trends.</a:t>
            </a:r>
          </a:p>
          <a:p>
            <a:pPr marL="0" indent="0" algn="just">
              <a:buNone/>
            </a:pPr>
            <a:r>
              <a:rPr lang="en-IN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Gap 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Biomarker → Voice OR tremor-based assessment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Personal Baseline → Mainly population comparison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Explainability → Predictions without clear reasons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Assessment → Different signals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separately</a:t>
            </a:r>
          </a:p>
          <a:p>
            <a:pPr lvl="1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Context → AI outputs can be difficult to interpret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445A5-2C9F-A551-86BF-B999397A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510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A2779-030C-46C2-A01D-1CB381B1E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itchFamily="18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C4423-5B4A-49E5-91C9-9A7E20AF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416706" cy="4530725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design: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Patient Dashboard → One Weekly Assessment → Five Integrated Modules → One Digital Brain Twin.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modules: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Analysis, Hand Tremor Test, Memory Recall, Typing Pattern, and Facial Movement.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weekly assessment is compared with the user’s personal baseline to generate a Brain Health Score, trends, and explainable insights.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445A5-2C9F-A551-86BF-B999397A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5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872" y="1440873"/>
            <a:ext cx="5958928" cy="536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10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1912A-A980-40D2-BACC-98656D801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761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64EE1-BFF2-A167-CA29-9D2C67EF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51559" y="2021936"/>
            <a:ext cx="10604731" cy="703353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188719" y="2175016"/>
            <a:ext cx="2459645" cy="36576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1644" y="2202222"/>
            <a:ext cx="21515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&amp;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24828" y="2202222"/>
            <a:ext cx="59200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232737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 •  Assessments  •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Health Profile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Chat  •  Reports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59" y="2890617"/>
            <a:ext cx="10604731" cy="703353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188720" y="2997750"/>
            <a:ext cx="2459644" cy="41170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00342" y="3070902"/>
            <a:ext cx="183415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&amp;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24828" y="3034326"/>
            <a:ext cx="582608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232737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React/TS → REST API →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Python → JWT authentication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59" y="3759297"/>
            <a:ext cx="10604731" cy="703353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188720" y="3875800"/>
            <a:ext cx="2459644" cy="40233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1792" y="3903006"/>
            <a:ext cx="33965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4828" y="3903006"/>
            <a:ext cx="721928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232737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Tremor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•  Typing LSTM  •  Face CNN  •  Memory rules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59" y="4627976"/>
            <a:ext cx="10604731" cy="703353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188719" y="4735109"/>
            <a:ext cx="2459645" cy="411706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93224" y="4766712"/>
            <a:ext cx="12458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XAI +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24828" y="4771685"/>
            <a:ext cx="644317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232737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for voice/tremor/typing  •  Rule-based face/memory  •  Gemini ECAI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59" y="5496657"/>
            <a:ext cx="10604731" cy="703353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1188720" y="5603790"/>
            <a:ext cx="2459644" cy="370445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93224" y="5635681"/>
            <a:ext cx="184839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59608" y="5635681"/>
            <a:ext cx="625549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232737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 → Personal Baseline →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Health Profile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Trends + Reports</a:t>
            </a:r>
          </a:p>
        </p:txBody>
      </p:sp>
    </p:spTree>
    <p:extLst>
      <p:ext uri="{BB962C8B-B14F-4D97-AF65-F5344CB8AC3E}">
        <p14:creationId xmlns:p14="http://schemas.microsoft.com/office/powerpoint/2010/main" val="3399908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A2779-030C-46C2-A01D-1CB381B1E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itchFamily="18" charset="0"/>
              </a:rPr>
              <a:t>System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445A5-2C9F-A551-86BF-B999397A4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7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73" b="12645"/>
          <a:stretch/>
        </p:blipFill>
        <p:spPr>
          <a:xfrm>
            <a:off x="761999" y="1523540"/>
            <a:ext cx="11101164" cy="496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1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8ADAA-BE37-4228-AB68-FC828CBA0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Technologies Learned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695BB-DF0B-60FA-E951-74A2290A2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8</a:t>
            </a:fld>
            <a:endParaRPr lang="en-IN"/>
          </a:p>
        </p:txBody>
      </p:sp>
      <p:sp>
        <p:nvSpPr>
          <p:cNvPr id="48" name="Rounded Rectangle 47"/>
          <p:cNvSpPr/>
          <p:nvPr/>
        </p:nvSpPr>
        <p:spPr>
          <a:xfrm>
            <a:off x="640080" y="1908695"/>
            <a:ext cx="34290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640080" y="1908695"/>
            <a:ext cx="73152" cy="126187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68680" y="2073287"/>
            <a:ext cx="10967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F244B"/>
                </a:solidFill>
                <a:latin typeface="Aptos Display"/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68680" y="2530487"/>
            <a:ext cx="3200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32737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API, JWT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async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routes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Production-grade backend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89120" y="1908695"/>
            <a:ext cx="34290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4389120" y="1908695"/>
            <a:ext cx="73152" cy="126187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617720" y="2073287"/>
            <a:ext cx="22865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F244B"/>
                </a:solidFill>
                <a:latin typeface="Aptos Display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+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617719" y="2530487"/>
            <a:ext cx="33375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32737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Multi-role SPA and dynamic dashboard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architecture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38159" y="1908695"/>
            <a:ext cx="34290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8138159" y="1908695"/>
            <a:ext cx="73152" cy="126187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366759" y="2073287"/>
            <a:ext cx="118173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F244B"/>
                </a:solidFill>
                <a:latin typeface="Aptos Display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59" y="2530487"/>
            <a:ext cx="301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32737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&amp; tremor classifiers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for tabular data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3417455"/>
            <a:ext cx="34290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640080" y="3417455"/>
            <a:ext cx="73152" cy="126187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68680" y="3582047"/>
            <a:ext cx="232518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F244B"/>
                </a:solidFill>
                <a:latin typeface="Aptos Display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TensorFlow / Keras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4039247"/>
            <a:ext cx="3337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32737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Typing LSTM + Face CNN</a:t>
            </a:r>
            <a:b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for sequences/images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389120" y="3417455"/>
            <a:ext cx="34290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389120" y="3417455"/>
            <a:ext cx="73152" cy="126187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4617720" y="3582047"/>
            <a:ext cx="10344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F244B"/>
                </a:solidFill>
                <a:latin typeface="Aptos Display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17720" y="4039247"/>
            <a:ext cx="301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32737"/>
                </a:solidFill>
                <a:latin typeface="Aptos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Pitch, jitter, shimmer, MFCC</a:t>
            </a:r>
            <a:b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Audio feature pipeline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138159" y="3417455"/>
            <a:ext cx="34290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8138159" y="3417455"/>
            <a:ext cx="73152" cy="126187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366759" y="3582047"/>
            <a:ext cx="261001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F244B"/>
                </a:solidFill>
                <a:latin typeface="Aptos Display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MediaPipe + OpenCV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66759" y="4039247"/>
            <a:ext cx="301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32737"/>
                </a:solidFill>
                <a:latin typeface="Aptos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Hand landmarks + facial mesh</a:t>
            </a:r>
            <a:b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computer vision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40080" y="4926215"/>
            <a:ext cx="34290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40080" y="4926215"/>
            <a:ext cx="73152" cy="126187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868680" y="5090807"/>
            <a:ext cx="86914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F244B"/>
                </a:solidFill>
                <a:latin typeface="Aptos Display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SHAP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68680" y="5548007"/>
            <a:ext cx="3017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32737"/>
                </a:solidFill>
                <a:latin typeface="Aptos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Feature attribution for 3 modules</a:t>
            </a:r>
            <a:b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389120" y="4926215"/>
            <a:ext cx="34290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4389120" y="4926215"/>
            <a:ext cx="73152" cy="126187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617720" y="5090807"/>
            <a:ext cx="182614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F244B"/>
                </a:solidFill>
                <a:latin typeface="Aptos Display"/>
              </a:defRPr>
            </a:pPr>
            <a:r>
              <a:rPr sz="200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17720" y="5548007"/>
            <a:ext cx="3017520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32737"/>
                </a:solidFill>
                <a:latin typeface="Aptos"/>
              </a:defRPr>
            </a:pP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Grounded ECAI responses</a:t>
            </a:r>
            <a:b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 + context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38159" y="4926215"/>
            <a:ext cx="342900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8138159" y="4926215"/>
            <a:ext cx="73152" cy="1261872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366759" y="5090807"/>
            <a:ext cx="289444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F244B"/>
                </a:solidFill>
                <a:latin typeface="Aptos Display"/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Tailwind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366759" y="5514715"/>
            <a:ext cx="3344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19">
                <a:solidFill>
                  <a:srgbClr val="232737"/>
                </a:solidFill>
                <a:latin typeface="Aptos"/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13+ normalized tables + responsive UI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modeling + UI styling</a:t>
            </a:r>
          </a:p>
        </p:txBody>
      </p:sp>
    </p:spTree>
    <p:extLst>
      <p:ext uri="{BB962C8B-B14F-4D97-AF65-F5344CB8AC3E}">
        <p14:creationId xmlns:p14="http://schemas.microsoft.com/office/powerpoint/2010/main" val="3152105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EC872-51AA-63F5-2481-E47DE3FC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9</a:t>
            </a:fld>
            <a:endParaRPr lang="en-IN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53445A5-2C9F-A551-86BF-B999397A4ED8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580E33B-3B1D-41CF-87B6-71715FF43E8C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8" name="Rounded Rectangle 47">
            <a:extLst>
              <a:ext uri="{FF2B5EF4-FFF2-40B4-BE49-F238E27FC236}">
                <a16:creationId xmlns:a16="http://schemas.microsoft.com/office/drawing/2014/main" id="{F856237F-BCC0-8E49-36EB-4B5A2E6A4A07}"/>
              </a:ext>
            </a:extLst>
          </p:cNvPr>
          <p:cNvSpPr/>
          <p:nvPr/>
        </p:nvSpPr>
        <p:spPr>
          <a:xfrm>
            <a:off x="640080" y="1700346"/>
            <a:ext cx="5455919" cy="229296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48">
            <a:extLst>
              <a:ext uri="{FF2B5EF4-FFF2-40B4-BE49-F238E27FC236}">
                <a16:creationId xmlns:a16="http://schemas.microsoft.com/office/drawing/2014/main" id="{2D07823D-DECA-BB6E-2D86-116066B0FDF9}"/>
              </a:ext>
            </a:extLst>
          </p:cNvPr>
          <p:cNvSpPr/>
          <p:nvPr/>
        </p:nvSpPr>
        <p:spPr>
          <a:xfrm>
            <a:off x="640079" y="1700346"/>
            <a:ext cx="116393" cy="229296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9E0B02-80C7-9609-E45B-C4D93F8FA2C1}"/>
              </a:ext>
            </a:extLst>
          </p:cNvPr>
          <p:cNvSpPr txBox="1"/>
          <p:nvPr/>
        </p:nvSpPr>
        <p:spPr>
          <a:xfrm>
            <a:off x="868681" y="1864938"/>
            <a:ext cx="506913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F244B"/>
                </a:solidFill>
                <a:latin typeface="Aptos Display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</a:t>
            </a:r>
          </a:p>
          <a:p>
            <a:pPr>
              <a:defRPr sz="1150" b="1">
                <a:solidFill>
                  <a:srgbClr val="1F244B"/>
                </a:solidFill>
                <a:latin typeface="Aptos Display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ounded Rectangle 47">
            <a:extLst>
              <a:ext uri="{FF2B5EF4-FFF2-40B4-BE49-F238E27FC236}">
                <a16:creationId xmlns:a16="http://schemas.microsoft.com/office/drawing/2014/main" id="{C976C501-1A26-4126-FD10-2B4726D79642}"/>
              </a:ext>
            </a:extLst>
          </p:cNvPr>
          <p:cNvSpPr/>
          <p:nvPr/>
        </p:nvSpPr>
        <p:spPr>
          <a:xfrm>
            <a:off x="640079" y="4063389"/>
            <a:ext cx="5521126" cy="229296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Custom CNN — SELECT: Best suited for our face-emotion task, with the highest accuracy and efficient performance.MobileNetV3 — NOT SELECTED: Designed for lightweight real-time use, but its lower accuracy reduced its suitability for our task.ResNet50 — NOT SELECTED: Designed for deep feature learning, but its higher complexity did not improve our results.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ounded Rectangle 48">
            <a:extLst>
              <a:ext uri="{FF2B5EF4-FFF2-40B4-BE49-F238E27FC236}">
                <a16:creationId xmlns:a16="http://schemas.microsoft.com/office/drawing/2014/main" id="{9C0CBFE0-11D0-A9B0-055D-8EFC16F09212}"/>
              </a:ext>
            </a:extLst>
          </p:cNvPr>
          <p:cNvSpPr/>
          <p:nvPr/>
        </p:nvSpPr>
        <p:spPr>
          <a:xfrm>
            <a:off x="640078" y="4063389"/>
            <a:ext cx="117784" cy="229296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17D4F2-949F-3311-895B-C82CA22A8AB6}"/>
              </a:ext>
            </a:extLst>
          </p:cNvPr>
          <p:cNvSpPr txBox="1"/>
          <p:nvPr/>
        </p:nvSpPr>
        <p:spPr>
          <a:xfrm>
            <a:off x="850000" y="4256643"/>
            <a:ext cx="52190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F244B"/>
                </a:solidFill>
                <a:latin typeface="Aptos Display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Expression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Rounded Rectangle 47">
            <a:extLst>
              <a:ext uri="{FF2B5EF4-FFF2-40B4-BE49-F238E27FC236}">
                <a16:creationId xmlns:a16="http://schemas.microsoft.com/office/drawing/2014/main" id="{A4D3545B-4963-BA7D-A2CA-5943FA7C2493}"/>
              </a:ext>
            </a:extLst>
          </p:cNvPr>
          <p:cNvSpPr/>
          <p:nvPr/>
        </p:nvSpPr>
        <p:spPr>
          <a:xfrm>
            <a:off x="6406201" y="1700347"/>
            <a:ext cx="5455919" cy="229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ounded Rectangle 48">
            <a:extLst>
              <a:ext uri="{FF2B5EF4-FFF2-40B4-BE49-F238E27FC236}">
                <a16:creationId xmlns:a16="http://schemas.microsoft.com/office/drawing/2014/main" id="{243FC404-07F8-F588-EA33-98EFA2491DF1}"/>
              </a:ext>
            </a:extLst>
          </p:cNvPr>
          <p:cNvSpPr/>
          <p:nvPr/>
        </p:nvSpPr>
        <p:spPr>
          <a:xfrm>
            <a:off x="6406200" y="1700347"/>
            <a:ext cx="116393" cy="2292960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A2B2758-C0A6-A8E5-5CD1-520F15FBBC69}"/>
              </a:ext>
            </a:extLst>
          </p:cNvPr>
          <p:cNvSpPr txBox="1"/>
          <p:nvPr/>
        </p:nvSpPr>
        <p:spPr>
          <a:xfrm>
            <a:off x="6634801" y="1806316"/>
            <a:ext cx="50903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F244B"/>
                </a:solidFill>
                <a:latin typeface="Aptos Display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 Tremor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ounded Rectangle 47">
            <a:extLst>
              <a:ext uri="{FF2B5EF4-FFF2-40B4-BE49-F238E27FC236}">
                <a16:creationId xmlns:a16="http://schemas.microsoft.com/office/drawing/2014/main" id="{8290DBE5-C3DD-0F04-4AF1-E8DB1CD353A2}"/>
              </a:ext>
            </a:extLst>
          </p:cNvPr>
          <p:cNvSpPr/>
          <p:nvPr/>
        </p:nvSpPr>
        <p:spPr>
          <a:xfrm>
            <a:off x="6406199" y="4095740"/>
            <a:ext cx="5455919" cy="229296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GRU — Rejected: Only 2–3% accuracy gain, within the ±10–14% variability, so no significant advantage over LSTM.Bi-LSTM — Rejected: Requires complete input sequences, making it unsuitable for real-time weekly monitoring.LSTM — Selected: Offers comparable accuracy, efficient sequential processing, and better deployment suitability for NeuroTwin AI.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ounded Rectangle 48">
            <a:extLst>
              <a:ext uri="{FF2B5EF4-FFF2-40B4-BE49-F238E27FC236}">
                <a16:creationId xmlns:a16="http://schemas.microsoft.com/office/drawing/2014/main" id="{16AD5AC4-167F-0349-D964-273471F89D03}"/>
              </a:ext>
            </a:extLst>
          </p:cNvPr>
          <p:cNvSpPr/>
          <p:nvPr/>
        </p:nvSpPr>
        <p:spPr>
          <a:xfrm>
            <a:off x="6406199" y="4095740"/>
            <a:ext cx="116393" cy="2292961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ED70409-2BF6-CF7E-6976-AF286D15366D}"/>
              </a:ext>
            </a:extLst>
          </p:cNvPr>
          <p:cNvSpPr txBox="1"/>
          <p:nvPr/>
        </p:nvSpPr>
        <p:spPr>
          <a:xfrm>
            <a:off x="6634801" y="4256643"/>
            <a:ext cx="50903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F244B"/>
                </a:solidFill>
                <a:latin typeface="Aptos Display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Typing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7C83E68-2340-510C-EEDB-9F9A83C81FBB}"/>
              </a:ext>
            </a:extLst>
          </p:cNvPr>
          <p:cNvSpPr txBox="1"/>
          <p:nvPr/>
        </p:nvSpPr>
        <p:spPr>
          <a:xfrm>
            <a:off x="838199" y="2206946"/>
            <a:ext cx="537000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Selected: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Best overall performance, efficient handling of complex voice patterns, and strong SHAP explainability.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– Rejected: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benchmark model, but showed lower performance and less optimization compared with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– Rejected: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for smaller/high-dimensional data, but requires sensitive tuning and becomes less efficient as data grows.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C30CD73-BD76-D00E-EB20-E9E27E277F13}"/>
              </a:ext>
            </a:extLst>
          </p:cNvPr>
          <p:cNvSpPr txBox="1"/>
          <p:nvPr/>
        </p:nvSpPr>
        <p:spPr>
          <a:xfrm>
            <a:off x="868678" y="4681563"/>
            <a:ext cx="52190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 —Selected: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suited for our face-emotion task, with the highest accuracy and efficient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MobileNetV3 — Rejected: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lightweight real-time use, but its lower accuracy reduced its suitability for our task.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—Rejected: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deep feature learning, but its higher complexity did not improve our results.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1F37D47-F7ED-E166-A0FD-24346E0DB46F}"/>
              </a:ext>
            </a:extLst>
          </p:cNvPr>
          <p:cNvSpPr txBox="1"/>
          <p:nvPr/>
        </p:nvSpPr>
        <p:spPr>
          <a:xfrm>
            <a:off x="6634801" y="2298063"/>
            <a:ext cx="509035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Selected: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selected for its high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accuracy,stable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performance, making it reliable for tremor prediction.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Forest– Rejected: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slightly higher accuracy, it showed less robustness and generalization compared with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– Rejected: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variation made its predictions less stable and reliable.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CAFCFFA5-C059-7A2D-2A97-690C266D81E9}"/>
              </a:ext>
            </a:extLst>
          </p:cNvPr>
          <p:cNvSpPr txBox="1">
            <a:spLocks/>
          </p:cNvSpPr>
          <p:nvPr/>
        </p:nvSpPr>
        <p:spPr>
          <a:xfrm>
            <a:off x="1034969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Model Performance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E988430-0A77-74BE-83DA-6BB995C10ACF}"/>
              </a:ext>
            </a:extLst>
          </p:cNvPr>
          <p:cNvSpPr txBox="1"/>
          <p:nvPr/>
        </p:nvSpPr>
        <p:spPr>
          <a:xfrm>
            <a:off x="6669526" y="4642805"/>
            <a:ext cx="505562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— Selected: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comparable accuracy, efficient sequential processing, and better deployment suitability for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NeuroTwin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 — Rejected: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2–3% accuracy gain, within the ±10–14% variability, so no significant advantage over LSTM.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Bi-LSTM — Rejected: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complete input sequences, making it unsuitable for real-time weekly monitoring.</a:t>
            </a:r>
          </a:p>
        </p:txBody>
      </p:sp>
    </p:spTree>
    <p:extLst>
      <p:ext uri="{BB962C8B-B14F-4D97-AF65-F5344CB8AC3E}">
        <p14:creationId xmlns:p14="http://schemas.microsoft.com/office/powerpoint/2010/main" val="150980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B275F-5AFC-455F-B024-CCB95A6D7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294"/>
            <a:ext cx="10515600" cy="95870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Results and Implementation 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(or Working Demo)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61B09-29F3-C069-9048-CE4826ED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10</a:t>
            </a:fld>
            <a:endParaRPr lang="en-IN"/>
          </a:p>
        </p:txBody>
      </p:sp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432560" y="1389061"/>
            <a:ext cx="9525000" cy="521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79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B275F-5AFC-455F-B024-CCB95A6D7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294"/>
            <a:ext cx="10515600" cy="95870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Results and Implementation 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Times New Roman" pitchFamily="18" charset="0"/>
                <a:cs typeface="Times New Roman" pitchFamily="18" charset="0"/>
              </a:rPr>
              <a:t>(or Working Demo)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61B09-29F3-C069-9048-CE4826ED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11</a:t>
            </a:fld>
            <a:endParaRPr lang="en-IN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280160" y="1447801"/>
            <a:ext cx="9601200" cy="470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14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itchFamily="18" charset="0"/>
              </a:rPr>
              <a:t>Novelty and Scope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284855" cy="3817793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Brain Twin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Personalized longitudinal neurological model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5-Module Multimodal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+ tremor + face + memory + typing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Baseline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against the user's own history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XAI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+ rule-based explanations by model type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ECAI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Chatbot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grounded in real SHAP values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Polarity-Aware XAI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Corrects explanation sign for risk vs health models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Architecture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API, database, Docker-ready structure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083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B275F-5AFC-455F-B024-CCB95A6D7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969" y="136525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Timeline Chart for Project Work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61B09-29F3-C069-9048-CE4826ED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13</a:t>
            </a:fld>
            <a:endParaRPr lang="en-IN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A762FF3-5BAA-FCA4-E4C4-1A7678B99576}"/>
              </a:ext>
            </a:extLst>
          </p:cNvPr>
          <p:cNvSpPr/>
          <p:nvPr/>
        </p:nvSpPr>
        <p:spPr>
          <a:xfrm>
            <a:off x="92671" y="1825831"/>
            <a:ext cx="1184148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CC48AAB-2AA9-1296-9F8F-B08717FC390B}"/>
              </a:ext>
            </a:extLst>
          </p:cNvPr>
          <p:cNvSpPr/>
          <p:nvPr/>
        </p:nvSpPr>
        <p:spPr>
          <a:xfrm>
            <a:off x="92671" y="2283031"/>
            <a:ext cx="1184148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5165007-D98B-A3C6-5BC9-1940796F624E}"/>
              </a:ext>
            </a:extLst>
          </p:cNvPr>
          <p:cNvSpPr/>
          <p:nvPr/>
        </p:nvSpPr>
        <p:spPr>
          <a:xfrm>
            <a:off x="92671" y="2740231"/>
            <a:ext cx="1184148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A49CEE6-F9B6-5F77-6D4D-CFDFFE9CE5AD}"/>
              </a:ext>
            </a:extLst>
          </p:cNvPr>
          <p:cNvSpPr/>
          <p:nvPr/>
        </p:nvSpPr>
        <p:spPr>
          <a:xfrm>
            <a:off x="92671" y="3197431"/>
            <a:ext cx="1184148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27A4DEC-29AA-143D-9E94-BA8908839743}"/>
              </a:ext>
            </a:extLst>
          </p:cNvPr>
          <p:cNvSpPr/>
          <p:nvPr/>
        </p:nvSpPr>
        <p:spPr>
          <a:xfrm>
            <a:off x="92671" y="3654631"/>
            <a:ext cx="1184148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26B7F07-F97D-7A14-BD15-7ECB684F6BF0}"/>
              </a:ext>
            </a:extLst>
          </p:cNvPr>
          <p:cNvSpPr/>
          <p:nvPr/>
        </p:nvSpPr>
        <p:spPr>
          <a:xfrm>
            <a:off x="92671" y="4111831"/>
            <a:ext cx="1184148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979978C-BEB0-9725-8727-F0A28CF7D72A}"/>
              </a:ext>
            </a:extLst>
          </p:cNvPr>
          <p:cNvSpPr/>
          <p:nvPr/>
        </p:nvSpPr>
        <p:spPr>
          <a:xfrm>
            <a:off x="92671" y="4569031"/>
            <a:ext cx="11841480" cy="457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1434781-4CD9-172B-AD79-0994E123B454}"/>
              </a:ext>
            </a:extLst>
          </p:cNvPr>
          <p:cNvSpPr/>
          <p:nvPr/>
        </p:nvSpPr>
        <p:spPr>
          <a:xfrm>
            <a:off x="92671" y="5026231"/>
            <a:ext cx="1184148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0117B4C-C952-8168-9C9F-0D686A73A155}"/>
              </a:ext>
            </a:extLst>
          </p:cNvPr>
          <p:cNvSpPr txBox="1"/>
          <p:nvPr/>
        </p:nvSpPr>
        <p:spPr>
          <a:xfrm>
            <a:off x="202399" y="1898983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73737"/>
                </a:solidFill>
                <a:latin typeface="Aptos"/>
              </a:defRPr>
            </a:pPr>
            <a:r>
              <a:t>Phase 1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DB00FAD-31BC-0825-4993-E05B7C9A43CD}"/>
              </a:ext>
            </a:extLst>
          </p:cNvPr>
          <p:cNvSpPr txBox="1"/>
          <p:nvPr/>
        </p:nvSpPr>
        <p:spPr>
          <a:xfrm>
            <a:off x="202399" y="2356183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73737"/>
                </a:solidFill>
                <a:latin typeface="Aptos"/>
              </a:defRPr>
            </a:pPr>
            <a:r>
              <a:t>Phase 2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A4209B7-F0D3-67EA-AFB5-BD9CC49127F2}"/>
              </a:ext>
            </a:extLst>
          </p:cNvPr>
          <p:cNvSpPr txBox="1"/>
          <p:nvPr/>
        </p:nvSpPr>
        <p:spPr>
          <a:xfrm>
            <a:off x="202399" y="2813383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73737"/>
                </a:solidFill>
                <a:latin typeface="Aptos"/>
              </a:defRPr>
            </a:pPr>
            <a:r>
              <a:t>Phase 3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2719AAA-834B-0634-BE61-2E23F5592551}"/>
              </a:ext>
            </a:extLst>
          </p:cNvPr>
          <p:cNvSpPr txBox="1"/>
          <p:nvPr/>
        </p:nvSpPr>
        <p:spPr>
          <a:xfrm>
            <a:off x="202399" y="3270583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73737"/>
                </a:solidFill>
                <a:latin typeface="Aptos"/>
              </a:defRPr>
            </a:pPr>
            <a:r>
              <a:t>Phase 4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E19161A-00B5-674D-E2D5-361240AA2B79}"/>
              </a:ext>
            </a:extLst>
          </p:cNvPr>
          <p:cNvSpPr txBox="1"/>
          <p:nvPr/>
        </p:nvSpPr>
        <p:spPr>
          <a:xfrm>
            <a:off x="202399" y="3727783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73737"/>
                </a:solidFill>
                <a:latin typeface="Aptos"/>
              </a:defRPr>
            </a:pPr>
            <a:r>
              <a:t>Phase 5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45AB38A-5D9B-CEE4-0A08-B81596085088}"/>
              </a:ext>
            </a:extLst>
          </p:cNvPr>
          <p:cNvSpPr txBox="1"/>
          <p:nvPr/>
        </p:nvSpPr>
        <p:spPr>
          <a:xfrm>
            <a:off x="202399" y="4184983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73737"/>
                </a:solidFill>
                <a:latin typeface="Aptos"/>
              </a:defRPr>
            </a:pPr>
            <a:r>
              <a:t>Phase 6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4F22565-B525-1B4A-3A1A-A5DE9D48A7E0}"/>
              </a:ext>
            </a:extLst>
          </p:cNvPr>
          <p:cNvSpPr txBox="1"/>
          <p:nvPr/>
        </p:nvSpPr>
        <p:spPr>
          <a:xfrm>
            <a:off x="202399" y="4642183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73737"/>
                </a:solidFill>
                <a:latin typeface="Aptos"/>
              </a:defRPr>
            </a:pPr>
            <a:r>
              <a:t>Phase 7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2D8D2A84-3AA8-6F68-8BEC-97E6F313BC14}"/>
              </a:ext>
            </a:extLst>
          </p:cNvPr>
          <p:cNvSpPr txBox="1"/>
          <p:nvPr/>
        </p:nvSpPr>
        <p:spPr>
          <a:xfrm>
            <a:off x="202399" y="5099383"/>
            <a:ext cx="1051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73737"/>
                </a:solidFill>
                <a:latin typeface="Aptos"/>
              </a:defRPr>
            </a:pPr>
            <a:r>
              <a:t>Phase 8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4C7F16FB-26B6-DDD0-366B-50E0A1626F59}"/>
              </a:ext>
            </a:extLst>
          </p:cNvPr>
          <p:cNvSpPr/>
          <p:nvPr/>
        </p:nvSpPr>
        <p:spPr>
          <a:xfrm>
            <a:off x="1692871" y="1505791"/>
            <a:ext cx="10972" cy="48006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A5C440E5-E5A4-D475-BF3F-9781515CA8EE}"/>
              </a:ext>
            </a:extLst>
          </p:cNvPr>
          <p:cNvSpPr txBox="1"/>
          <p:nvPr/>
        </p:nvSpPr>
        <p:spPr>
          <a:xfrm>
            <a:off x="1554887" y="6233239"/>
            <a:ext cx="3674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05050"/>
                </a:solidFill>
                <a:latin typeface="Aptos"/>
              </a:defRPr>
            </a:pPr>
            <a:r>
              <a:rPr dirty="0"/>
              <a:t>W</a:t>
            </a:r>
            <a:r>
              <a:rPr lang="en-US" dirty="0"/>
              <a:t>1</a:t>
            </a:r>
            <a:endParaRPr dirty="0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EE664C7F-A2CC-BA8A-B41E-329A978E81D3}"/>
              </a:ext>
            </a:extLst>
          </p:cNvPr>
          <p:cNvSpPr/>
          <p:nvPr/>
        </p:nvSpPr>
        <p:spPr>
          <a:xfrm>
            <a:off x="2459560" y="1505791"/>
            <a:ext cx="10972" cy="48006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9629F877-9D9A-2323-F2F4-C19CF4A7E50F}"/>
              </a:ext>
            </a:extLst>
          </p:cNvPr>
          <p:cNvSpPr txBox="1"/>
          <p:nvPr/>
        </p:nvSpPr>
        <p:spPr>
          <a:xfrm>
            <a:off x="2321576" y="6233239"/>
            <a:ext cx="3674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05050"/>
                </a:solidFill>
                <a:latin typeface="Aptos"/>
              </a:defRPr>
            </a:pPr>
            <a:r>
              <a:rPr dirty="0"/>
              <a:t>W2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D34B1E2-11A5-AD59-1569-17AEC47CAA9E}"/>
              </a:ext>
            </a:extLst>
          </p:cNvPr>
          <p:cNvSpPr/>
          <p:nvPr/>
        </p:nvSpPr>
        <p:spPr>
          <a:xfrm>
            <a:off x="3226249" y="1505791"/>
            <a:ext cx="10972" cy="48006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6C2D9772-90E1-E668-1E39-30291EB4721B}"/>
              </a:ext>
            </a:extLst>
          </p:cNvPr>
          <p:cNvSpPr txBox="1"/>
          <p:nvPr/>
        </p:nvSpPr>
        <p:spPr>
          <a:xfrm>
            <a:off x="3088265" y="6233239"/>
            <a:ext cx="3674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05050"/>
                </a:solidFill>
                <a:latin typeface="Aptos"/>
              </a:defRPr>
            </a:pPr>
            <a:r>
              <a:rPr dirty="0"/>
              <a:t>W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7F232399-1320-7842-F8D9-9A507AA3444C}"/>
              </a:ext>
            </a:extLst>
          </p:cNvPr>
          <p:cNvSpPr/>
          <p:nvPr/>
        </p:nvSpPr>
        <p:spPr>
          <a:xfrm>
            <a:off x="3992938" y="1505791"/>
            <a:ext cx="10972" cy="48006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1E0AC41-3954-422E-A744-C15A346CC2FA}"/>
              </a:ext>
            </a:extLst>
          </p:cNvPr>
          <p:cNvSpPr txBox="1"/>
          <p:nvPr/>
        </p:nvSpPr>
        <p:spPr>
          <a:xfrm>
            <a:off x="3854954" y="6233239"/>
            <a:ext cx="3674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05050"/>
                </a:solidFill>
                <a:latin typeface="Aptos"/>
              </a:defRPr>
            </a:pPr>
            <a:r>
              <a:rPr dirty="0"/>
              <a:t>W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CE322F62-243A-7F60-3C49-8CF274E82B03}"/>
              </a:ext>
            </a:extLst>
          </p:cNvPr>
          <p:cNvSpPr/>
          <p:nvPr/>
        </p:nvSpPr>
        <p:spPr>
          <a:xfrm>
            <a:off x="4759627" y="1505791"/>
            <a:ext cx="10972" cy="48006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7EA2FE2-264D-7ABA-4E47-E530467F526B}"/>
              </a:ext>
            </a:extLst>
          </p:cNvPr>
          <p:cNvSpPr txBox="1"/>
          <p:nvPr/>
        </p:nvSpPr>
        <p:spPr>
          <a:xfrm>
            <a:off x="4621643" y="6233239"/>
            <a:ext cx="3674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05050"/>
                </a:solidFill>
                <a:latin typeface="Aptos"/>
              </a:defRPr>
            </a:pPr>
            <a:r>
              <a:rPr dirty="0"/>
              <a:t>W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1F4AA28F-E530-9935-95DC-A17EF812FF5C}"/>
              </a:ext>
            </a:extLst>
          </p:cNvPr>
          <p:cNvSpPr/>
          <p:nvPr/>
        </p:nvSpPr>
        <p:spPr>
          <a:xfrm>
            <a:off x="5526317" y="1505791"/>
            <a:ext cx="10972" cy="48006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A7551B97-04D7-2BFB-A6BF-62C5603267BD}"/>
              </a:ext>
            </a:extLst>
          </p:cNvPr>
          <p:cNvSpPr txBox="1"/>
          <p:nvPr/>
        </p:nvSpPr>
        <p:spPr>
          <a:xfrm>
            <a:off x="5388333" y="6233239"/>
            <a:ext cx="3674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05050"/>
                </a:solidFill>
                <a:latin typeface="Aptos"/>
              </a:defRPr>
            </a:pPr>
            <a:r>
              <a:rPr dirty="0"/>
              <a:t>W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AD02A8B-A9A6-AFF9-09AB-8BCC0276A398}"/>
              </a:ext>
            </a:extLst>
          </p:cNvPr>
          <p:cNvSpPr/>
          <p:nvPr/>
        </p:nvSpPr>
        <p:spPr>
          <a:xfrm>
            <a:off x="6293006" y="1505791"/>
            <a:ext cx="10972" cy="48006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3177E7F-7E91-8B07-3125-3B9CE9AF44BB}"/>
              </a:ext>
            </a:extLst>
          </p:cNvPr>
          <p:cNvSpPr txBox="1"/>
          <p:nvPr/>
        </p:nvSpPr>
        <p:spPr>
          <a:xfrm>
            <a:off x="6155022" y="6233239"/>
            <a:ext cx="3674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05050"/>
                </a:solidFill>
                <a:latin typeface="Aptos"/>
              </a:defRPr>
            </a:pPr>
            <a:r>
              <a:rPr dirty="0"/>
              <a:t>W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86F14D2D-2960-FEB4-9E5B-6DEDD73A76B2}"/>
              </a:ext>
            </a:extLst>
          </p:cNvPr>
          <p:cNvSpPr/>
          <p:nvPr/>
        </p:nvSpPr>
        <p:spPr>
          <a:xfrm>
            <a:off x="7059695" y="1505791"/>
            <a:ext cx="10972" cy="48006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3435B614-829C-7A23-865F-51D2C0287DE7}"/>
              </a:ext>
            </a:extLst>
          </p:cNvPr>
          <p:cNvSpPr txBox="1"/>
          <p:nvPr/>
        </p:nvSpPr>
        <p:spPr>
          <a:xfrm>
            <a:off x="6921711" y="6233239"/>
            <a:ext cx="3674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05050"/>
                </a:solidFill>
                <a:latin typeface="Aptos"/>
              </a:defRPr>
            </a:pPr>
            <a:r>
              <a:rPr dirty="0"/>
              <a:t>W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B7380F7-AA84-88FC-08C9-249A49E8A499}"/>
              </a:ext>
            </a:extLst>
          </p:cNvPr>
          <p:cNvSpPr/>
          <p:nvPr/>
        </p:nvSpPr>
        <p:spPr>
          <a:xfrm>
            <a:off x="7826384" y="1505791"/>
            <a:ext cx="10972" cy="48006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17AA7D0A-BF83-06B4-40EC-7B67862F4B09}"/>
              </a:ext>
            </a:extLst>
          </p:cNvPr>
          <p:cNvSpPr txBox="1"/>
          <p:nvPr/>
        </p:nvSpPr>
        <p:spPr>
          <a:xfrm>
            <a:off x="7688400" y="6233239"/>
            <a:ext cx="3674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05050"/>
                </a:solidFill>
                <a:latin typeface="Aptos"/>
              </a:defRPr>
            </a:pPr>
            <a:r>
              <a:rPr dirty="0"/>
              <a:t>W</a:t>
            </a:r>
            <a:r>
              <a:rPr lang="en-US" dirty="0"/>
              <a:t>9</a:t>
            </a:r>
            <a:endParaRPr dirty="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EFA8B170-94EB-D26B-AB15-AA893E924D6F}"/>
              </a:ext>
            </a:extLst>
          </p:cNvPr>
          <p:cNvSpPr/>
          <p:nvPr/>
        </p:nvSpPr>
        <p:spPr>
          <a:xfrm>
            <a:off x="8593074" y="1505791"/>
            <a:ext cx="10972" cy="48006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06389190-281E-E272-A1E1-F3447CD6C2D8}"/>
              </a:ext>
            </a:extLst>
          </p:cNvPr>
          <p:cNvSpPr txBox="1"/>
          <p:nvPr/>
        </p:nvSpPr>
        <p:spPr>
          <a:xfrm>
            <a:off x="8420626" y="6233239"/>
            <a:ext cx="4363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05050"/>
                </a:solidFill>
                <a:latin typeface="Aptos"/>
              </a:defRPr>
            </a:pPr>
            <a:r>
              <a:rPr dirty="0"/>
              <a:t>W</a:t>
            </a:r>
            <a:r>
              <a:rPr lang="en-US" dirty="0"/>
              <a:t>10</a:t>
            </a:r>
            <a:endParaRPr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1CFFBF38-1CD9-8A4B-FD5C-F4B35EEA3A68}"/>
              </a:ext>
            </a:extLst>
          </p:cNvPr>
          <p:cNvSpPr/>
          <p:nvPr/>
        </p:nvSpPr>
        <p:spPr>
          <a:xfrm>
            <a:off x="9359763" y="1505791"/>
            <a:ext cx="10972" cy="48006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2ED2980F-7361-01B7-9DB5-2B38DEA2EEC0}"/>
              </a:ext>
            </a:extLst>
          </p:cNvPr>
          <p:cNvSpPr txBox="1"/>
          <p:nvPr/>
        </p:nvSpPr>
        <p:spPr>
          <a:xfrm>
            <a:off x="9187315" y="6233239"/>
            <a:ext cx="4363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05050"/>
                </a:solidFill>
                <a:latin typeface="Aptos"/>
              </a:defRPr>
            </a:pPr>
            <a:r>
              <a:rPr dirty="0"/>
              <a:t>W</a:t>
            </a:r>
            <a:r>
              <a:rPr lang="en-US" dirty="0"/>
              <a:t>11</a:t>
            </a:r>
            <a:endParaRPr dirty="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B8D769E4-F636-AF74-4AB9-40C0AF1263E0}"/>
              </a:ext>
            </a:extLst>
          </p:cNvPr>
          <p:cNvSpPr/>
          <p:nvPr/>
        </p:nvSpPr>
        <p:spPr>
          <a:xfrm>
            <a:off x="10126452" y="1505791"/>
            <a:ext cx="10972" cy="48006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43EA331-6F09-6D13-EB1E-D5B36D66EFB5}"/>
              </a:ext>
            </a:extLst>
          </p:cNvPr>
          <p:cNvSpPr txBox="1"/>
          <p:nvPr/>
        </p:nvSpPr>
        <p:spPr>
          <a:xfrm>
            <a:off x="9954004" y="6233239"/>
            <a:ext cx="4363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05050"/>
                </a:solidFill>
                <a:latin typeface="Aptos"/>
              </a:defRPr>
            </a:pPr>
            <a:r>
              <a:rPr dirty="0"/>
              <a:t>W</a:t>
            </a:r>
            <a:r>
              <a:rPr lang="en-US" dirty="0"/>
              <a:t>12</a:t>
            </a:r>
            <a:endParaRPr dirty="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430664E3-B4E9-9491-FE6A-53BE95271125}"/>
              </a:ext>
            </a:extLst>
          </p:cNvPr>
          <p:cNvSpPr/>
          <p:nvPr/>
        </p:nvSpPr>
        <p:spPr>
          <a:xfrm>
            <a:off x="10893141" y="1505791"/>
            <a:ext cx="10972" cy="48006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03F34363-D094-3379-F050-23BE928C21C0}"/>
              </a:ext>
            </a:extLst>
          </p:cNvPr>
          <p:cNvSpPr txBox="1"/>
          <p:nvPr/>
        </p:nvSpPr>
        <p:spPr>
          <a:xfrm>
            <a:off x="10720693" y="6233239"/>
            <a:ext cx="4363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505050"/>
                </a:solidFill>
                <a:latin typeface="Aptos"/>
              </a:defRPr>
            </a:pPr>
            <a:r>
              <a:rPr dirty="0"/>
              <a:t>W</a:t>
            </a:r>
            <a:r>
              <a:rPr lang="en-US" dirty="0"/>
              <a:t>13</a:t>
            </a:r>
            <a:endParaRPr dirty="0"/>
          </a:p>
        </p:txBody>
      </p:sp>
      <p:sp>
        <p:nvSpPr>
          <p:cNvPr id="192" name="Rounded Rectangle 44">
            <a:extLst>
              <a:ext uri="{FF2B5EF4-FFF2-40B4-BE49-F238E27FC236}">
                <a16:creationId xmlns:a16="http://schemas.microsoft.com/office/drawing/2014/main" id="{1583DF35-2D12-0DAA-09CE-E940689F1BAD}"/>
              </a:ext>
            </a:extLst>
          </p:cNvPr>
          <p:cNvSpPr/>
          <p:nvPr/>
        </p:nvSpPr>
        <p:spPr>
          <a:xfrm>
            <a:off x="1692871" y="1853263"/>
            <a:ext cx="777662" cy="36576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FFFFF"/>
                </a:solidFill>
                <a:latin typeface="Aptos"/>
              </a:defRPr>
            </a:pPr>
            <a:r>
              <a:rPr dirty="0"/>
              <a:t>Problem Definition</a:t>
            </a:r>
          </a:p>
        </p:txBody>
      </p:sp>
      <p:sp>
        <p:nvSpPr>
          <p:cNvPr id="194" name="Rounded Rectangle 45">
            <a:extLst>
              <a:ext uri="{FF2B5EF4-FFF2-40B4-BE49-F238E27FC236}">
                <a16:creationId xmlns:a16="http://schemas.microsoft.com/office/drawing/2014/main" id="{30144603-C111-6681-1A60-2CF3F946D6C9}"/>
              </a:ext>
            </a:extLst>
          </p:cNvPr>
          <p:cNvSpPr/>
          <p:nvPr/>
        </p:nvSpPr>
        <p:spPr>
          <a:xfrm>
            <a:off x="1692871" y="2310463"/>
            <a:ext cx="1495043" cy="36576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FFFFF"/>
                </a:solidFill>
                <a:latin typeface="Aptos"/>
              </a:defRPr>
            </a:pPr>
            <a:r>
              <a:t>Requirement Analysis</a:t>
            </a:r>
          </a:p>
        </p:txBody>
      </p:sp>
      <p:sp>
        <p:nvSpPr>
          <p:cNvPr id="196" name="Rounded Rectangle 46">
            <a:extLst>
              <a:ext uri="{FF2B5EF4-FFF2-40B4-BE49-F238E27FC236}">
                <a16:creationId xmlns:a16="http://schemas.microsoft.com/office/drawing/2014/main" id="{696E90E5-83E3-AED0-87AC-639A5745DDB7}"/>
              </a:ext>
            </a:extLst>
          </p:cNvPr>
          <p:cNvSpPr/>
          <p:nvPr/>
        </p:nvSpPr>
        <p:spPr>
          <a:xfrm>
            <a:off x="2382891" y="2767663"/>
            <a:ext cx="1571712" cy="36576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FFFFF"/>
                </a:solidFill>
                <a:latin typeface="Aptos"/>
              </a:defRPr>
            </a:pPr>
            <a:r>
              <a:t>Literature &amp; Dataset Study</a:t>
            </a:r>
          </a:p>
        </p:txBody>
      </p:sp>
      <p:sp>
        <p:nvSpPr>
          <p:cNvPr id="198" name="Rounded Rectangle 47">
            <a:extLst>
              <a:ext uri="{FF2B5EF4-FFF2-40B4-BE49-F238E27FC236}">
                <a16:creationId xmlns:a16="http://schemas.microsoft.com/office/drawing/2014/main" id="{A5859DE9-4A91-B543-3983-AF13AD180673}"/>
              </a:ext>
            </a:extLst>
          </p:cNvPr>
          <p:cNvSpPr/>
          <p:nvPr/>
        </p:nvSpPr>
        <p:spPr>
          <a:xfrm>
            <a:off x="3187914" y="3224863"/>
            <a:ext cx="1533378" cy="36576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FFFFF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200" name="Rounded Rectangle 48">
            <a:extLst>
              <a:ext uri="{FF2B5EF4-FFF2-40B4-BE49-F238E27FC236}">
                <a16:creationId xmlns:a16="http://schemas.microsoft.com/office/drawing/2014/main" id="{E06DF5D8-0CBB-60B3-DE6D-9A47D3F98ED3}"/>
              </a:ext>
            </a:extLst>
          </p:cNvPr>
          <p:cNvSpPr/>
          <p:nvPr/>
        </p:nvSpPr>
        <p:spPr>
          <a:xfrm>
            <a:off x="3954604" y="3682063"/>
            <a:ext cx="1533378" cy="36576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FFFFF"/>
                </a:solidFill>
                <a:latin typeface="Aptos"/>
              </a:defRPr>
            </a:pPr>
            <a:r>
              <a:t>UI/UX Design</a:t>
            </a:r>
          </a:p>
        </p:txBody>
      </p:sp>
      <p:sp>
        <p:nvSpPr>
          <p:cNvPr id="202" name="Rounded Rectangle 49">
            <a:extLst>
              <a:ext uri="{FF2B5EF4-FFF2-40B4-BE49-F238E27FC236}">
                <a16:creationId xmlns:a16="http://schemas.microsoft.com/office/drawing/2014/main" id="{B0F563EF-A2B3-70FA-E5FD-CDF25CAC4DF7}"/>
              </a:ext>
            </a:extLst>
          </p:cNvPr>
          <p:cNvSpPr/>
          <p:nvPr/>
        </p:nvSpPr>
        <p:spPr>
          <a:xfrm>
            <a:off x="4721293" y="4139263"/>
            <a:ext cx="2300067" cy="36576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FFFFF"/>
                </a:solidFill>
                <a:latin typeface="Aptos"/>
              </a:defRPr>
            </a:pPr>
            <a:r>
              <a:t>Model Training</a:t>
            </a:r>
          </a:p>
        </p:txBody>
      </p:sp>
      <p:sp>
        <p:nvSpPr>
          <p:cNvPr id="204" name="Rounded Rectangle 50">
            <a:extLst>
              <a:ext uri="{FF2B5EF4-FFF2-40B4-BE49-F238E27FC236}">
                <a16:creationId xmlns:a16="http://schemas.microsoft.com/office/drawing/2014/main" id="{CEC08066-86F3-9A6D-783E-7E9181956CA8}"/>
              </a:ext>
            </a:extLst>
          </p:cNvPr>
          <p:cNvSpPr/>
          <p:nvPr/>
        </p:nvSpPr>
        <p:spPr>
          <a:xfrm>
            <a:off x="7021361" y="4596463"/>
            <a:ext cx="3066756" cy="36576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FFFFF"/>
                </a:solidFill>
                <a:latin typeface="Aptos"/>
              </a:defRPr>
            </a:pPr>
            <a:r>
              <a:t>Frontend Development</a:t>
            </a:r>
          </a:p>
        </p:txBody>
      </p:sp>
      <p:sp>
        <p:nvSpPr>
          <p:cNvPr id="206" name="Rounded Rectangle 51">
            <a:extLst>
              <a:ext uri="{FF2B5EF4-FFF2-40B4-BE49-F238E27FC236}">
                <a16:creationId xmlns:a16="http://schemas.microsoft.com/office/drawing/2014/main" id="{79A2CA5B-4FDC-7C4E-E683-86B92D7BD22A}"/>
              </a:ext>
            </a:extLst>
          </p:cNvPr>
          <p:cNvSpPr/>
          <p:nvPr/>
        </p:nvSpPr>
        <p:spPr>
          <a:xfrm>
            <a:off x="9321428" y="5053663"/>
            <a:ext cx="2300067" cy="365760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FFFFF"/>
                </a:solidFill>
                <a:latin typeface="Aptos"/>
              </a:defRPr>
            </a:pPr>
            <a:r>
              <a:t>Integration &amp; Testing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DB7A8923-8D0D-951C-BF66-45C0AB26EF69}"/>
              </a:ext>
            </a:extLst>
          </p:cNvPr>
          <p:cNvSpPr/>
          <p:nvPr/>
        </p:nvSpPr>
        <p:spPr>
          <a:xfrm flipH="1">
            <a:off x="11283868" y="1438577"/>
            <a:ext cx="45719" cy="4794662"/>
          </a:xfrm>
          <a:prstGeom prst="rect">
            <a:avLst/>
          </a:prstGeom>
          <a:solidFill>
            <a:srgbClr val="D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81325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10D4D-7AFC-46BD-8984-0E5F3A854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F8348-7A61-4EF5-AC55-2E43A5224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2060"/>
            <a:ext cx="11147322" cy="503078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</a:t>
            </a:r>
          </a:p>
          <a:p>
            <a:pPr lvl="0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Hoang, T.-H.,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Zallek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and Do, M. N.,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“Smartphone-Based Digitized Neurological Examination Toolbox for Multi-Test Neurological Abnormality Detection and Documentation,”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Journal of Biomedical and Health Informatics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28, no. 12, pp. 7457–7468, 2024. DOI: 10.1109/JBHI.2024.3439492. 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IEEE Xplore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Little, M. A., McSharry, P. E., Hunter, E. J., Spielman, J., and Ramig, L. O.,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“Suitability of Dysphonia Measurements for Telemonitoring of Parkinson’s Disease,”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Biomedical Engineering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56, no. 4, pp. 1015–1022, 2009. DOI: 10.1109/TBME.2008.2005954. 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IEEE Xplore / DOI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Ramirez, J., et al.,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“Multimodal Assessment of Parkinson's Disease: A Deep Learning Approach,”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Journal of Biomedical and Health Informatics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23, no. 4, pp. 1618–1630, 2019. DOI: 10.1109/JBHI.2018.2866873. 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IEEE Xplore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Frameworks &amp; Libraries</a:t>
            </a:r>
            <a:endParaRPr lang="en-US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MediaPipe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 Documentation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Whisper: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Whisper GitHub Repository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librosa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librosa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 Documentation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Scikit-learn Documentation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Documentation: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9"/>
              </a:rPr>
              <a:t>SHAP Documentation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FastAPI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0"/>
              </a:rPr>
              <a:t> Documentation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Documentation: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11"/>
              </a:rPr>
              <a:t>React Documentation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EC872-51AA-63F5-2481-E47DE3FC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0E33B-3B1D-41CF-87B6-71715FF43E8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492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alibri-Cambria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Calibri-Cambria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1356</Words>
  <Application>Microsoft Office PowerPoint</Application>
  <PresentationFormat>Widescreen</PresentationFormat>
  <Paragraphs>152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</vt:lpstr>
      <vt:lpstr>Times New Roman</vt:lpstr>
      <vt:lpstr>Office Theme</vt:lpstr>
      <vt:lpstr>1_Office Theme</vt:lpstr>
      <vt:lpstr>Sarvajanik College of Engineering and Technology Department Name: Artificial Intelligence &amp; Data Science  Project-1(BTAI16701)</vt:lpstr>
      <vt:lpstr>Introduction</vt:lpstr>
      <vt:lpstr>Problem Definition</vt:lpstr>
      <vt:lpstr>Motivation</vt:lpstr>
      <vt:lpstr>Proposed Solution</vt:lpstr>
      <vt:lpstr>Methodology</vt:lpstr>
      <vt:lpstr>System Architecture</vt:lpstr>
      <vt:lpstr>Technologies Learned</vt:lpstr>
      <vt:lpstr> </vt:lpstr>
      <vt:lpstr>Results and Implementation  (or Working Demo)</vt:lpstr>
      <vt:lpstr>Results and Implementation  (or Working Demo)</vt:lpstr>
      <vt:lpstr>Novelty and Scope</vt:lpstr>
      <vt:lpstr>Timeline Chart for Project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Dharmika Gajera</cp:lastModifiedBy>
  <cp:revision>89</cp:revision>
  <dcterms:created xsi:type="dcterms:W3CDTF">2024-08-22T05:23:39Z</dcterms:created>
  <dcterms:modified xsi:type="dcterms:W3CDTF">2026-09-28T10:21:52Z</dcterms:modified>
</cp:coreProperties>
</file>